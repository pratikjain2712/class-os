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ClassOS. Promise: help teachers know not just who scored what, but what each student needs next —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time. 6 hours per exam is something every teacher in the room feels. Let it land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problem: even after grading, the output is useless without interpretation. "58" means nothing without the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product loop. Emphasise end-to-end — not just AI grading but the entire cycle, including practice and retest.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workflow. Key: they keep full control. AI does the work, teacher approves. 30 min instead of 6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experience. The number alone means nothing without the plan. The +27 point retest proof is what parents and students care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Comparison. No existing AI tool is built for Indian coaching: no handwritten support, no syllabus alignment, no diagnostic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Differentiation. Generic AI grading tools are built for Western, digital, typed exams. We are built for India.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ask. Low-risk for the institute. We need their feedback as much as their access. This is the foundation of the commercial relationship.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Leave them with the tagline and contact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843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08A1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777240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ClassOS</a:t>
            </a:r>
            <a:endParaRPr lang="en-US" sz="5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600" dirty="0">
                <a:solidFill>
                  <a:srgbClr val="F08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what to</a:t>
            </a:r>
            <a:endParaRPr lang="en-US" sz="26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600" dirty="0">
                <a:solidFill>
                  <a:srgbClr val="F08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next.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E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assessment &amp; learning platform for coaching institutes.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Arihant Educare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73736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700" b="1" dirty="0">
                <a:solidFill>
                  <a:srgbClr val="1B2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Assessment</a:t>
            </a:r>
            <a:endParaRPr lang="en-US" sz="17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700" b="1" dirty="0">
                <a:solidFill>
                  <a:srgbClr val="1B2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Learning</a:t>
            </a:r>
            <a:endParaRPr lang="en-US" sz="17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700" b="1" dirty="0">
                <a:solidFill>
                  <a:srgbClr val="1B2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0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1B2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6+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8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926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teacher to grade one exam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80 students. By hand.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840480" y="457200"/>
            <a:ext cx="493776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77800" dist="50800" dir="162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114800" y="7315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grading looks like today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0" y="1389888"/>
            <a:ext cx="118872" cy="118872"/>
          </a:xfrm>
          <a:prstGeom prst="ellipse">
            <a:avLst/>
          </a:prstGeom>
          <a:solidFill>
            <a:srgbClr val="F08A1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43400" y="1325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sheet checked by hand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1600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hours per exam, per teacher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0" y="2139696"/>
            <a:ext cx="118872" cy="118872"/>
          </a:xfrm>
          <a:prstGeom prst="ellipse">
            <a:avLst/>
          </a:prstGeom>
          <a:solidFill>
            <a:srgbClr val="F08A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43400" y="20756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rubric — marks vary teacher to teacher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23500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Inconsistent, hard to defend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0" y="2889504"/>
            <a:ext cx="118872" cy="118872"/>
          </a:xfrm>
          <a:prstGeom prst="ellipse">
            <a:avLst/>
          </a:prstGeom>
          <a:solidFill>
            <a:srgbClr val="F08A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43400" y="28254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published 5–7 days after the exam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30998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forget what they wrote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0" y="3639312"/>
            <a:ext cx="118872" cy="118872"/>
          </a:xfrm>
          <a:prstGeom prst="ellipse">
            <a:avLst/>
          </a:prstGeom>
          <a:solidFill>
            <a:srgbClr val="F08A1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343400" y="35753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say "64/100" — nothing about WHY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343400" y="38496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next step for the student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84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dirty="0">
                <a:solidFill>
                  <a:srgbClr val="2A3F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8686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Rahul scored 58.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691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08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concept is holding him back?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08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he practice before the next exam?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80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08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other students have the same gap?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3611880"/>
            <a:ext cx="2286000" cy="27432"/>
          </a:xfrm>
          <a:prstGeom prst="rect">
            <a:avLst/>
          </a:prstGeom>
          <a:solidFill>
            <a:srgbClr val="2A3F6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794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E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result without diagnosis is just a number. ClassOS gives you the diagnosis — and the plan.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0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One continuous loop.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097280" cy="749808"/>
          </a:xfrm>
          <a:prstGeom prst="rect">
            <a:avLst/>
          </a:prstGeom>
          <a:solidFill>
            <a:srgbClr val="1B284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874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72768" y="202996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2706624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paper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0" y="1828800"/>
            <a:ext cx="1097280" cy="749808"/>
          </a:xfrm>
          <a:prstGeom prst="rect">
            <a:avLst/>
          </a:prstGeom>
          <a:solidFill>
            <a:srgbClr val="25355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828800" y="1874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44368" y="202996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2706624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exam,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usual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828800"/>
            <a:ext cx="1097280" cy="749808"/>
          </a:xfrm>
          <a:prstGeom prst="rect">
            <a:avLst/>
          </a:prstGeom>
          <a:solidFill>
            <a:srgbClr val="F08A1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00400" y="1874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315968" y="202996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154680" y="2706624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grades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sheets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828800"/>
            <a:ext cx="1097280" cy="749808"/>
          </a:xfrm>
          <a:prstGeom prst="rect">
            <a:avLst/>
          </a:prstGeom>
          <a:solidFill>
            <a:srgbClr val="D4781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0" y="1874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87568" y="202996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2706624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Concept-level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 map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1828800"/>
            <a:ext cx="1097280" cy="749808"/>
          </a:xfrm>
          <a:prstGeom prst="rect">
            <a:avLst/>
          </a:prstGeom>
          <a:solidFill>
            <a:srgbClr val="0FA87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0" y="1874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202996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897880" y="2706624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sets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0" y="1828800"/>
            <a:ext cx="1097280" cy="749808"/>
          </a:xfrm>
          <a:prstGeom prst="rect">
            <a:avLst/>
          </a:prstGeom>
          <a:solidFill>
            <a:srgbClr val="097A5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0" y="1874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2706624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 proves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progress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creating the exam to proving the improvement — all in one platform built for coaching institutes.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B284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0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TEACHERS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49808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5 hours per exam.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Gain insight you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had before.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29768" y="2377440"/>
            <a:ext cx="246888" cy="246888"/>
          </a:xfrm>
          <a:prstGeom prst="ellipse">
            <a:avLst/>
          </a:prstGeom>
          <a:solidFill>
            <a:srgbClr val="F08A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29768" y="237744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33172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5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textbook and question bank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" y="2816352"/>
            <a:ext cx="246888" cy="246888"/>
          </a:xfrm>
          <a:prstGeom prst="ellipse">
            <a:avLst/>
          </a:prstGeom>
          <a:solidFill>
            <a:srgbClr val="F08A1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9768" y="28163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77063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5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chapter-wise exam paper in 10 min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" y="3255264"/>
            <a:ext cx="246888" cy="246888"/>
          </a:xfrm>
          <a:prstGeom prst="ellipse">
            <a:avLst/>
          </a:prstGeom>
          <a:solidFill>
            <a:srgbClr val="F08A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9768" y="32552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320954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5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and conduct the exam as normal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" y="3694176"/>
            <a:ext cx="246888" cy="246888"/>
          </a:xfrm>
          <a:prstGeom prst="ellipse">
            <a:avLst/>
          </a:prstGeom>
          <a:solidFill>
            <a:srgbClr val="F08A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9768" y="369417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364845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5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answer sheets by phone or PDF upload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9768" y="4133088"/>
            <a:ext cx="246888" cy="246888"/>
          </a:xfrm>
          <a:prstGeom prst="ellipse">
            <a:avLst/>
          </a:prstGeom>
          <a:solidFill>
            <a:srgbClr val="F08A1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29768" y="413308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0873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5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grades everything — review takes 30 minutes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" y="4572000"/>
            <a:ext cx="246888" cy="246888"/>
          </a:xfrm>
          <a:prstGeom prst="ellipse">
            <a:avLst/>
          </a:prstGeom>
          <a:solidFill>
            <a:srgbClr val="F08A1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29768" y="45720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52628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5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concepts each student needs to fix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617720" y="365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REVIEW INTERFACE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17720" y="749808"/>
            <a:ext cx="4160520" cy="4023360"/>
          </a:xfrm>
          <a:prstGeom prst="rect">
            <a:avLst/>
          </a:prstGeom>
          <a:solidFill>
            <a:srgbClr val="F7F5F0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77800" dist="50800" dir="162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795528"/>
            <a:ext cx="1005840" cy="310896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663440" y="79552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15000" y="795528"/>
            <a:ext cx="1737360" cy="310896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715000" y="7955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Sheet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98080" y="795528"/>
            <a:ext cx="1207008" cy="310896"/>
          </a:xfrm>
          <a:prstGeom prst="rect">
            <a:avLst/>
          </a:prstGeom>
          <a:solidFill>
            <a:srgbClr val="EDF7F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98080" y="79552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170432"/>
            <a:ext cx="10058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663440" y="122529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1645920"/>
            <a:ext cx="1005840" cy="429768"/>
          </a:xfrm>
          <a:prstGeom prst="rect">
            <a:avLst/>
          </a:prstGeom>
          <a:solidFill>
            <a:srgbClr val="F4F2EF"/>
          </a:solidFill>
          <a:ln w="6350">
            <a:solidFill>
              <a:srgbClr val="E0DDD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663440" y="17007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2121408"/>
            <a:ext cx="10058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663440" y="217627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Q3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2596896"/>
            <a:ext cx="1005840" cy="429768"/>
          </a:xfrm>
          <a:prstGeom prst="rect">
            <a:avLst/>
          </a:prstGeom>
          <a:solidFill>
            <a:srgbClr val="F4F2EF"/>
          </a:solidFill>
          <a:ln w="6350">
            <a:solidFill>
              <a:srgbClr val="E0DDD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663440" y="2651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Q4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715000" y="1143000"/>
            <a:ext cx="1737360" cy="2377440"/>
          </a:xfrm>
          <a:prstGeom prst="rect">
            <a:avLst/>
          </a:prstGeom>
          <a:solidFill>
            <a:srgbClr val="EBEBEB"/>
          </a:solidFill>
          <a:ln w="6350">
            <a:solidFill>
              <a:srgbClr val="E0DDD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71500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498080" y="1143000"/>
            <a:ext cx="120700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552944" y="123444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3/5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552944" y="150876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Conf: 91%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552944" y="178308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7552944" y="205740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F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Crit 1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7552944" y="233172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F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Crit 2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7552944" y="260604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Crit 3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7552944" y="288036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Crit 4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552944" y="3264408"/>
            <a:ext cx="1078992" cy="219456"/>
          </a:xfrm>
          <a:prstGeom prst="rect">
            <a:avLst/>
          </a:prstGeom>
          <a:solidFill>
            <a:srgbClr val="0FA876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552944" y="326440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4617720" y="464515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approve  ·  N = next  ·  M = edit marks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84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0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749040" cy="3749040"/>
          </a:xfrm>
          <a:prstGeom prst="rect">
            <a:avLst/>
          </a:prstGeom>
          <a:solidFill>
            <a:srgbClr val="253556"/>
          </a:solidFill>
          <a:ln w="12700">
            <a:solidFill>
              <a:srgbClr val="2A3F6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914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2984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"Rahul scored 64."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100584" cy="1005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0392" y="19933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E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on each answer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100584" cy="1005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50392" y="24505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E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idea which concept failed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100584" cy="1005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0392" y="29077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E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targeted practice plan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100584" cy="1005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0392" y="33649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E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mistakes in the next test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892040" y="777240"/>
            <a:ext cx="3840480" cy="3749040"/>
          </a:xfrm>
          <a:prstGeom prst="rect">
            <a:avLst/>
          </a:prstGeom>
          <a:solidFill>
            <a:srgbClr val="0A1F10"/>
          </a:solidFill>
          <a:ln w="12700">
            <a:solidFill>
              <a:srgbClr val="0FA87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0" y="914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F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CLASSOS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129844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"Rahul scored 64. Here's exactly why."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074920" y="2057400"/>
            <a:ext cx="100584" cy="100584"/>
          </a:xfrm>
          <a:prstGeom prst="ellipse">
            <a:avLst/>
          </a:prstGeom>
          <a:solidFill>
            <a:srgbClr val="0FA87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285232" y="19933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annotated handwritten answer sheet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74920" y="2514600"/>
            <a:ext cx="100584" cy="100584"/>
          </a:xfrm>
          <a:prstGeom prst="ellipse">
            <a:avLst/>
          </a:prstGeom>
          <a:solidFill>
            <a:srgbClr val="0FA87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285232" y="24505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concepts: Trig ratios, Formula selection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74920" y="2971800"/>
            <a:ext cx="100584" cy="100584"/>
          </a:xfrm>
          <a:prstGeom prst="ellipse">
            <a:avLst/>
          </a:prstGeom>
          <a:solidFill>
            <a:srgbClr val="0FA87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285232" y="29077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targeted practice questions auto-generated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74920" y="3429000"/>
            <a:ext cx="100584" cy="100584"/>
          </a:xfrm>
          <a:prstGeom prst="ellipse">
            <a:avLst/>
          </a:prstGeom>
          <a:solidFill>
            <a:srgbClr val="0FA87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285232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Retest: 81% — up from 54%  (+27 points)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0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COMPARE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faster grading. A complete intelligence layer.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017520" y="1298448"/>
            <a:ext cx="2148840" cy="438912"/>
          </a:xfrm>
          <a:prstGeom prst="rect">
            <a:avLst/>
          </a:prstGeom>
          <a:solidFill>
            <a:srgbClr val="F7F5F0"/>
          </a:solidFill>
          <a:ln w="12700">
            <a:solidFill>
              <a:srgbClr val="E0DDD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17520" y="129844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Grading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257800" y="1298448"/>
            <a:ext cx="1783080" cy="438912"/>
          </a:xfrm>
          <a:prstGeom prst="rect">
            <a:avLst/>
          </a:prstGeom>
          <a:solidFill>
            <a:srgbClr val="F7F5F0"/>
          </a:solidFill>
          <a:ln w="12700">
            <a:solidFill>
              <a:srgbClr val="E0DDD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129844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Tool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0" y="1298448"/>
            <a:ext cx="1828800" cy="438912"/>
          </a:xfrm>
          <a:prstGeom prst="rect">
            <a:avLst/>
          </a:prstGeom>
          <a:solidFill>
            <a:srgbClr val="F08A1A"/>
          </a:solidFill>
          <a:ln w="12700">
            <a:solidFill>
              <a:srgbClr val="E0DDD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0" y="129844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2468880" cy="512064"/>
          </a:xfrm>
          <a:prstGeom prst="rect">
            <a:avLst/>
          </a:prstGeom>
          <a:solidFill>
            <a:srgbClr val="F7F5F0"/>
          </a:solidFill>
          <a:ln w="6350">
            <a:solidFill>
              <a:srgbClr val="E0DDD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73736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time (80 students)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017520" y="1737360"/>
            <a:ext cx="2148840" cy="512064"/>
          </a:xfrm>
          <a:prstGeom prst="rect">
            <a:avLst/>
          </a:prstGeom>
          <a:solidFill>
            <a:srgbClr val="F7F5F0"/>
          </a:solidFill>
          <a:ln w="6350">
            <a:solidFill>
              <a:srgbClr val="E0DDD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08960" y="1737360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hours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57800" y="1737360"/>
            <a:ext cx="1783080" cy="512064"/>
          </a:xfrm>
          <a:prstGeom prst="rect">
            <a:avLst/>
          </a:prstGeom>
          <a:solidFill>
            <a:srgbClr val="F7F5F0"/>
          </a:solidFill>
          <a:ln w="6350">
            <a:solidFill>
              <a:srgbClr val="E0DDD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49240" y="173736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 (poor accuracy)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32320" y="1737360"/>
            <a:ext cx="1828800" cy="512064"/>
          </a:xfrm>
          <a:prstGeom prst="rect">
            <a:avLst/>
          </a:prstGeom>
          <a:solidFill>
            <a:srgbClr val="EAF6F1"/>
          </a:solidFill>
          <a:ln w="6350">
            <a:solidFill>
              <a:srgbClr val="E0DDD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173736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9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min, 91% accurate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249424"/>
            <a:ext cx="24688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24942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exam sheets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017520" y="2249424"/>
            <a:ext cx="21488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108960" y="2249424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57800" y="2249424"/>
            <a:ext cx="17830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49240" y="224942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supported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32320" y="2249424"/>
            <a:ext cx="1828800" cy="512064"/>
          </a:xfrm>
          <a:prstGeom prst="rect">
            <a:avLst/>
          </a:prstGeom>
          <a:solidFill>
            <a:srgbClr val="EAF6F1"/>
          </a:solidFill>
          <a:ln w="6350">
            <a:solidFill>
              <a:srgbClr val="E0DDD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23760" y="224942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9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2761488"/>
            <a:ext cx="2468880" cy="512064"/>
          </a:xfrm>
          <a:prstGeom prst="rect">
            <a:avLst/>
          </a:prstGeom>
          <a:solidFill>
            <a:srgbClr val="F7F5F0"/>
          </a:solidFill>
          <a:ln w="6350">
            <a:solidFill>
              <a:srgbClr val="E0DDD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276148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CBSE / ICSE syllabus-aware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017520" y="2761488"/>
            <a:ext cx="2148840" cy="512064"/>
          </a:xfrm>
          <a:prstGeom prst="rect">
            <a:avLst/>
          </a:prstGeom>
          <a:solidFill>
            <a:srgbClr val="F7F5F0"/>
          </a:solidFill>
          <a:ln w="6350">
            <a:solidFill>
              <a:srgbClr val="E0DDD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108960" y="2761488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knows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257800" y="2761488"/>
            <a:ext cx="1783080" cy="512064"/>
          </a:xfrm>
          <a:prstGeom prst="rect">
            <a:avLst/>
          </a:prstGeom>
          <a:solidFill>
            <a:srgbClr val="F7F5F0"/>
          </a:solidFill>
          <a:ln w="6350">
            <a:solidFill>
              <a:srgbClr val="E0DDD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349240" y="276148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aligned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132320" y="2761488"/>
            <a:ext cx="1828800" cy="512064"/>
          </a:xfrm>
          <a:prstGeom prst="rect">
            <a:avLst/>
          </a:prstGeom>
          <a:solidFill>
            <a:srgbClr val="EAF6F1"/>
          </a:solidFill>
          <a:ln w="6350">
            <a:solidFill>
              <a:srgbClr val="E0DDD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23760" y="276148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9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+ concept level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3273552"/>
            <a:ext cx="24688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27355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Concept-level weakness diagnosis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017520" y="3273552"/>
            <a:ext cx="21488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108960" y="3273552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generated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257800" y="3273552"/>
            <a:ext cx="17830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349240" y="3273552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generated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132320" y="3273552"/>
            <a:ext cx="1828800" cy="512064"/>
          </a:xfrm>
          <a:prstGeom prst="rect">
            <a:avLst/>
          </a:prstGeom>
          <a:solidFill>
            <a:srgbClr val="EAF6F1"/>
          </a:solidFill>
          <a:ln w="6350">
            <a:solidFill>
              <a:srgbClr val="E0DDD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223760" y="327355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9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student, auto-generated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3785616"/>
            <a:ext cx="2468880" cy="512064"/>
          </a:xfrm>
          <a:prstGeom prst="rect">
            <a:avLst/>
          </a:prstGeom>
          <a:solidFill>
            <a:srgbClr val="F7F5F0"/>
          </a:solidFill>
          <a:ln w="6350">
            <a:solidFill>
              <a:srgbClr val="E0DDD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48640" y="378561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practice tests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017520" y="3785616"/>
            <a:ext cx="2148840" cy="512064"/>
          </a:xfrm>
          <a:prstGeom prst="rect">
            <a:avLst/>
          </a:prstGeom>
          <a:solidFill>
            <a:srgbClr val="F7F5F0"/>
          </a:solidFill>
          <a:ln w="6350">
            <a:solidFill>
              <a:srgbClr val="E0DDD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108960" y="3785616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possible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257800" y="3785616"/>
            <a:ext cx="1783080" cy="512064"/>
          </a:xfrm>
          <a:prstGeom prst="rect">
            <a:avLst/>
          </a:prstGeom>
          <a:solidFill>
            <a:srgbClr val="F7F5F0"/>
          </a:solidFill>
          <a:ln w="6350">
            <a:solidFill>
              <a:srgbClr val="E0DDD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349240" y="378561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possible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132320" y="3785616"/>
            <a:ext cx="1828800" cy="512064"/>
          </a:xfrm>
          <a:prstGeom prst="rect">
            <a:avLst/>
          </a:prstGeom>
          <a:solidFill>
            <a:srgbClr val="EAF6F1"/>
          </a:solidFill>
          <a:ln w="6350">
            <a:solidFill>
              <a:srgbClr val="E0DDD7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223760" y="378561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9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Personalised, 1 click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0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for how coaching institutes actually work.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1554480"/>
          </a:xfrm>
          <a:prstGeom prst="rect">
            <a:avLst/>
          </a:prstGeom>
          <a:solidFill>
            <a:srgbClr val="F7F5F0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27000" dist="38100" dir="162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1554480"/>
          </a:xfrm>
          <a:prstGeom prst="rect">
            <a:avLst/>
          </a:prstGeom>
          <a:solidFill>
            <a:srgbClr val="1B284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CBSE / ICSE / State board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202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generated and evaluated against your actual board syllabus. Chapter-wise, topic-wise, concept-wise — not generic.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4023360" cy="1554480"/>
          </a:xfrm>
          <a:prstGeom prst="rect">
            <a:avLst/>
          </a:prstGeom>
          <a:solidFill>
            <a:srgbClr val="F7F5F0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27000" dist="38100" dir="162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417320"/>
            <a:ext cx="54864" cy="1554480"/>
          </a:xfrm>
          <a:prstGeom prst="rect">
            <a:avLst/>
          </a:prstGeom>
          <a:solidFill>
            <a:srgbClr val="F08A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8348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handwritten exams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9202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change how you work. Teacher scans answer sheets by phone. ClassOS processes everything automatically.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4023360" cy="1554480"/>
          </a:xfrm>
          <a:prstGeom prst="rect">
            <a:avLst/>
          </a:prstGeom>
          <a:solidFill>
            <a:srgbClr val="F7F5F0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27000" dist="38100" dir="162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54680"/>
            <a:ext cx="54864" cy="1554480"/>
          </a:xfrm>
          <a:prstGeom prst="rect">
            <a:avLst/>
          </a:prstGeom>
          <a:solidFill>
            <a:srgbClr val="0FA87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Chapter-level intelligence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6576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"weak in Maths." Instead: "Trigonometric ratio identification — 3 errors, declining over 2 tests."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3154680"/>
            <a:ext cx="4023360" cy="1554480"/>
          </a:xfrm>
          <a:prstGeom prst="rect">
            <a:avLst/>
          </a:prstGeom>
          <a:solidFill>
            <a:srgbClr val="F7F5F0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27000" dist="38100" dir="162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3154680"/>
            <a:ext cx="54864" cy="1554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8348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Hindi + English support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36576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answer recognition for institutes where students write in Hindi, English, or a combination of both.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F08A1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0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want Arihant Educare</a:t>
            </a:r>
            <a:endParaRPr lang="en-US" sz="3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our first partner institute.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084832"/>
            <a:ext cx="3840480" cy="2057400"/>
          </a:xfrm>
          <a:prstGeom prst="rect">
            <a:avLst/>
          </a:prstGeom>
          <a:solidFill>
            <a:srgbClr val="253556"/>
          </a:solidFill>
          <a:ln w="12700">
            <a:solidFill>
              <a:srgbClr val="2A3F6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221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" y="2770632"/>
            <a:ext cx="109728" cy="109728"/>
          </a:xfrm>
          <a:prstGeom prst="ellipse">
            <a:avLst/>
          </a:prstGeom>
          <a:solidFill>
            <a:srgbClr val="F08A1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" y="26974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5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class, 1 subject, 6 weeks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" y="3136392"/>
            <a:ext cx="109728" cy="109728"/>
          </a:xfrm>
          <a:prstGeom prst="ellipse">
            <a:avLst/>
          </a:prstGeom>
          <a:solidFill>
            <a:srgbClr val="F08A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0392" y="30632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5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scanned answer sheets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" y="3502152"/>
            <a:ext cx="109728" cy="109728"/>
          </a:xfrm>
          <a:prstGeom prst="ellipse">
            <a:avLst/>
          </a:prstGeom>
          <a:solidFill>
            <a:srgbClr val="F08A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0392" y="34290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5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time for review and feedback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" y="3867912"/>
            <a:ext cx="109728" cy="109728"/>
          </a:xfrm>
          <a:prstGeom prst="ellipse">
            <a:avLst/>
          </a:prstGeom>
          <a:solidFill>
            <a:srgbClr val="F08A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0392" y="37947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5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input on what works and what doesn't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00600" y="2084832"/>
            <a:ext cx="3886200" cy="2057400"/>
          </a:xfrm>
          <a:prstGeom prst="rect">
            <a:avLst/>
          </a:prstGeom>
          <a:solidFill>
            <a:srgbClr val="0A1F10"/>
          </a:solidFill>
          <a:ln w="12700">
            <a:solidFill>
              <a:srgbClr val="0FA87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22219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F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Arihant Educare gets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65192" y="2770632"/>
            <a:ext cx="109728" cy="109728"/>
          </a:xfrm>
          <a:prstGeom prst="ellipse">
            <a:avLst/>
          </a:prstGeom>
          <a:solidFill>
            <a:srgbClr val="0FA87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193792" y="26974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access for the full pilot period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965192" y="3136392"/>
            <a:ext cx="109728" cy="109728"/>
          </a:xfrm>
          <a:prstGeom prst="ellipse">
            <a:avLst/>
          </a:prstGeom>
          <a:solidFill>
            <a:srgbClr val="0FA87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193792" y="30632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grading for all exams in scope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965192" y="3502152"/>
            <a:ext cx="109728" cy="109728"/>
          </a:xfrm>
          <a:prstGeom prst="ellipse">
            <a:avLst/>
          </a:prstGeom>
          <a:solidFill>
            <a:srgbClr val="0FA87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193792" y="3429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and class analytics reports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965192" y="3867912"/>
            <a:ext cx="109728" cy="109728"/>
          </a:xfrm>
          <a:prstGeom prst="ellipse">
            <a:avLst/>
          </a:prstGeom>
          <a:solidFill>
            <a:srgbClr val="0FA87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193792" y="37947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influence on the product roadmap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4531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prove ClassOS saves 200+ teacher hours and measurably improves student scores in 6 weeks.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8A1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8686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ClassOS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08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what to teach next.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542032"/>
            <a:ext cx="2286000" cy="27432"/>
          </a:xfrm>
          <a:prstGeom prst="rect">
            <a:avLst/>
          </a:prstGeom>
          <a:solidFill>
            <a:srgbClr val="2A3F6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9E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this together.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429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7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490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pratikjain2712@gmail.com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→ Test → Evaluate → Diagnose → Practice → Improve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2026-09-01T20:31:45Z</dcterms:created>
  <dcterms:modified xsi:type="dcterms:W3CDTF">2026-09-01T20:31:45Z</dcterms:modified>
</cp:coreProperties>
</file>